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e9c8a1aaba4b02" /><Relationship Type="http://schemas.openxmlformats.org/officeDocument/2006/relationships/extended-properties" Target="/docProps/app.xml" Id="Rf689c78925044975" /><Relationship Type="http://schemas.openxmlformats.org/officeDocument/2006/relationships/officeDocument" Target="/ppt/presentation.xml" Id="Rad6da78fafaf48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9ca32af2f42ad"/>
  </p:sldMasterIdLst>
  <p:notesMasterIdLst>
    <p:notesMasterId xmlns:r="http://schemas.openxmlformats.org/officeDocument/2006/relationships" r:id="Re2cdb53606b34c2c"/>
  </p:notesMasterIdLst>
  <p:sldIdLst>
    <p:sldId xmlns:r="http://schemas.openxmlformats.org/officeDocument/2006/relationships" id="256" r:id="R96e9fb7de30a4c97"/>
    <p:sldId xmlns:r="http://schemas.openxmlformats.org/officeDocument/2006/relationships" id="257" r:id="R5b2650e25d3a4028"/>
    <p:sldId xmlns:r="http://schemas.openxmlformats.org/officeDocument/2006/relationships" id="258" r:id="R645b447e963f4fd6"/>
    <p:sldId xmlns:r="http://schemas.openxmlformats.org/officeDocument/2006/relationships" id="259" r:id="R7ec947e96b0d4e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f8b0b48bed4386" /><Relationship Type="http://schemas.openxmlformats.org/officeDocument/2006/relationships/slideMaster" Target="/ppt/slideMasters/slideMaster1.xml" Id="R7eb9ca32af2f42ad" /><Relationship Type="http://schemas.openxmlformats.org/officeDocument/2006/relationships/notesMaster" Target="/ppt/notesMasters/notesMaster1.xml" Id="Re2cdb53606b34c2c" /><Relationship Type="http://schemas.openxmlformats.org/officeDocument/2006/relationships/presProps" Target="/ppt/presProps.xml" Id="R25e7250f169f40e2" /><Relationship Type="http://schemas.openxmlformats.org/officeDocument/2006/relationships/tableStyles" Target="/ppt/tableStyles.xml" Id="Rd091c1d883974513" /><Relationship Type="http://schemas.openxmlformats.org/officeDocument/2006/relationships/slide" Target="/ppt/slides/slide1.xml" Id="R96e9fb7de30a4c97" /><Relationship Type="http://schemas.openxmlformats.org/officeDocument/2006/relationships/slide" Target="/ppt/slides/slide2.xml" Id="R5b2650e25d3a4028" /><Relationship Type="http://schemas.openxmlformats.org/officeDocument/2006/relationships/slide" Target="/ppt/slides/slide3.xml" Id="R645b447e963f4fd6" /><Relationship Type="http://schemas.openxmlformats.org/officeDocument/2006/relationships/slide" Target="/ppt/slides/slide4.xml" Id="R7ec947e96b0d4e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c3f3f8345744f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5639b524a6404f" /><Relationship Type="http://schemas.openxmlformats.org/officeDocument/2006/relationships/notesMaster" Target="/ppt/notesMasters/notesMaster1.xml" Id="Rbb663eff6e4e45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53ab790da94d7f" /><Relationship Type="http://schemas.openxmlformats.org/officeDocument/2006/relationships/notesMaster" Target="/ppt/notesMasters/notesMaster1.xml" Id="R25bf690d011342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4d9eb135e746ca" /><Relationship Type="http://schemas.openxmlformats.org/officeDocument/2006/relationships/notesMaster" Target="/ppt/notesMasters/notesMaster1.xml" Id="R49e1f77c0e7b40e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c73267520af4fbd" /><Relationship Type="http://schemas.openxmlformats.org/officeDocument/2006/relationships/notesMaster" Target="/ppt/notesMasters/notesMaster1.xml" Id="R9f3835d3c50f4a5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P09-BRF-001 사업범위 표 및 정산 결과. 모든 값은 합성 자료이며 계약금액은 세금 제외 JV 전체 기준.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P09-LL01; P09-MOM-001 D01. 슬라이드 금액은 Cost 시트 실적에 포함되어 있으므로 재합산하지 않는다.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P09-COM-001 Summary B6:B14. 공제 후 잔여 = 최종 계약수입 - 최종원가 - 지체상금.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P09-LL01, P09-LL02, P09-ITB-001 20.1. 적용성은 신규 프로젝트와 비교 후 판단.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e8ca056cb74b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3fb508a40204c40" /><Relationship Type="http://schemas.openxmlformats.org/officeDocument/2006/relationships/slideLayout" Target="/ppt/slideLayouts/slideLayout1.xml" Id="R9708e546008740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08e546008740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253bf7a194d7b" /><Relationship Type="http://schemas.openxmlformats.org/officeDocument/2006/relationships/notesSlide" Target="/ppt/notesSlides/notesSlide1.xml" Id="Raa9a15f6ff6b49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f0e5bab4942ae" /><Relationship Type="http://schemas.openxmlformats.org/officeDocument/2006/relationships/notesSlide" Target="/ppt/notesSlides/notesSlide2.xml" Id="R996e8811ec39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53d8b747fc4934" /><Relationship Type="http://schemas.openxmlformats.org/officeDocument/2006/relationships/notesSlide" Target="/ppt/notesSlides/notesSlide3.xml" Id="R051be6121c6748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6448cdefcc488c" /><Relationship Type="http://schemas.openxmlformats.org/officeDocument/2006/relationships/notesSlide" Target="/ppt/notesSlides/notesSlide4.xml" Id="R1516d2a4e01b4b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0032DB21-5382-4802-A88A-60F03245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해솔 공항 유도로 확장 준공 심의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93BC842F-ABA1-4EFB-99FE-9836B3AA5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P09 | 2019-04-18 | SYNTHETIC 가상 자료 | 1</a:t>
            </a:r>
          </a:p>
        </p:txBody>
      </p:sp>
      <p:sp>
        <p:nvSpPr>
          <p:cNvPr id="3" name="scope">
            <a:extLst xmlns:a="http://schemas.openxmlformats.org/drawingml/2006/main">
              <a:ext uri="{FF2B5EF4-FFF2-40B4-BE49-F238E27FC236}">
                <a16:creationId xmlns:a16="http://schemas.microsoft.com/office/drawing/2014/main" id="{8D05931A-C425-4F57-A534-8DC2F843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1047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유도로 2.8 km, 계류장 14만 m2, 항공등화 이설</a:t>
            </a:r>
          </a:p>
        </p:txBody>
      </p:sp>
      <p:sp>
        <p:nvSpPr>
          <p:cNvPr id="4" name="terms">
            <a:extLst xmlns:a="http://schemas.openxmlformats.org/drawingml/2006/main">
              <a:ext uri="{FF2B5EF4-FFF2-40B4-BE49-F238E27FC236}">
                <a16:creationId xmlns:a16="http://schemas.microsoft.com/office/drawing/2014/main" id="{2BBFA363-1CB7-41DF-9753-6602119AA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총액도급  /  USD 154 million</a:t>
            </a:r>
          </a:p>
          <a:p xmlns:a="http://schemas.openxmlformats.org/drawingml/2006/main">
            <a:pPr>
              <a:def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계획 25개월  /  당사 JV 지분 50%</a:t>
            </a:r>
          </a:p>
        </p:txBody>
      </p:sp>
      <p:sp>
        <p:nvSpPr>
          <p:cNvPr id="5" name="decision">
            <a:extLst xmlns:a="http://schemas.openxmlformats.org/drawingml/2006/main">
              <a:ext uri="{FF2B5EF4-FFF2-40B4-BE49-F238E27FC236}">
                <a16:creationId xmlns:a16="http://schemas.microsoft.com/office/drawing/2014/main" id="{E824E83F-BEB5-4401-9500-E54F87449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심의 결과: 변경 0.9 million 승인, 미승인 추가원가 1.60 million 종결</a:t>
            </a:r>
          </a:p>
        </p:txBody>
      </p:sp>
    </p:spTree>
    <p:extLst>
      <p:ext uri="{BB962C8B-B14F-4D97-AF65-F5344CB8AC3E}">
        <p14:creationId xmlns:p14="http://schemas.microsoft.com/office/powerpoint/2010/main" val="784873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0C7B8F7-345B-4D50-9511-80159CB9A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운영 공항 작업창 축소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5ED4F44F-CA0B-4B05-B728-A185CBF81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P09 | 2019-04-18 | SYNTHETIC 가상 자료 | 2</a:t>
            </a:r>
          </a:p>
        </p:txBody>
      </p:sp>
      <p:sp>
        <p:nvSpPr>
          <p:cNvPr id="3" name="event">
            <a:extLst xmlns:a="http://schemas.openxmlformats.org/drawingml/2006/main">
              <a:ext uri="{FF2B5EF4-FFF2-40B4-BE49-F238E27FC236}">
                <a16:creationId xmlns:a16="http://schemas.microsoft.com/office/drawing/2014/main" id="{AB3C00E3-8E65-4858-B4FC-47BF6072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10572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항공편 변경으로 유도로 작업창이 야간 5시간에서 3시간으로 축소됐다.</a:t>
            </a:r>
          </a:p>
        </p:txBody>
      </p:sp>
      <p:sp>
        <p:nvSpPr>
          <p:cNvPr id="4" name="response">
            <a:extLst xmlns:a="http://schemas.openxmlformats.org/drawingml/2006/main">
              <a:ext uri="{FF2B5EF4-FFF2-40B4-BE49-F238E27FC236}">
                <a16:creationId xmlns:a16="http://schemas.microsoft.com/office/drawing/2014/main" id="{3FDF9B9A-EF86-4166-ACFC-C60A642E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05727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구간별 조기강도 확인 후 개방하고 매일 작업허가와 장비 철수 확인서를 발행했다.</a:t>
            </a:r>
          </a:p>
        </p:txBody>
      </p:sp>
      <p:sp>
        <p:nvSpPr>
          <p:cNvPr id="5" name="impact">
            <a:extLst xmlns:a="http://schemas.openxmlformats.org/drawingml/2006/main">
              <a:ext uri="{FF2B5EF4-FFF2-40B4-BE49-F238E27FC236}">
                <a16:creationId xmlns:a16="http://schemas.microsoft.com/office/drawing/2014/main" id="{DA4FA8C5-2417-4B39-B10B-8242398F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572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실제 지연 11일 / 승인 EOT 6일 / 추가원가 2.5 USD million</a:t>
            </a:r>
          </a:p>
        </p:txBody>
      </p:sp>
    </p:spTree>
    <p:extLst>
      <p:ext uri="{BB962C8B-B14F-4D97-AF65-F5344CB8AC3E}">
        <p14:creationId xmlns:p14="http://schemas.microsoft.com/office/powerpoint/2010/main" val="8043656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DB940F8-EA28-42B0-9904-4183DDFB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원가와 계약 정산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DCC1CB21-DD61-4AB3-B974-3F0429AC5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P09 | 2019-04-18 | SYNTHETIC 가상 자료 | 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762000" y="1476375"/>
          <a:ext xmlns:a="http://schemas.openxmlformats.org/drawingml/2006/main" cx="10477500" cy="3857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6477000"/>
                <a:gridCol w="4000500"/>
              </a:tblGrid>
              <a:tr h="6429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항목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USD million</a:t>
                      </a:r>
                    </a:p>
                  </a:txBody>
                  <a:tcPr marL="91440" marR="91440" marT="45720" marB="45720">
                    <a:solidFill>
                      <a:srgbClr val="18334D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원계약금액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 계약수입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154.9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최종원가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138.02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지체상금 공제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0.385</a:t>
                      </a:r>
                    </a:p>
                  </a:txBody>
                  <a:tcPr marL="91440" marR="91440" marT="45720" marB="45720">
                    <a:solidFill>
                      <a:srgbClr val="F0F4F7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공제 후 잔여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42E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16.4950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basis">
            <a:extLst xmlns:a="http://schemas.openxmlformats.org/drawingml/2006/main">
              <a:ext uri="{FF2B5EF4-FFF2-40B4-BE49-F238E27FC236}">
                <a16:creationId xmlns:a16="http://schemas.microsoft.com/office/drawing/2014/main" id="{444188A0-B7BB-4D86-A35C-6352E19B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세금·금융비용 전. 원가와 수입을 구분하며 지분율을 곱하기 전의 JV 전체 금액입니다.</a:t>
            </a:r>
          </a:p>
        </p:txBody>
      </p:sp>
    </p:spTree>
    <p:extLst>
      <p:ext uri="{BB962C8B-B14F-4D97-AF65-F5344CB8AC3E}">
        <p14:creationId xmlns:p14="http://schemas.microsoft.com/office/powerpoint/2010/main" val="316427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FB3E3B02-0BC6-4608-8B23-AD1532E3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18334D"/>
                </a:solidFill>
                <a:latin typeface="Noto Sans KR"/>
                <a:ea typeface="Noto Sans KR"/>
                <a:cs typeface="Noto Sans KR"/>
              </a:rPr>
              <a:t>후속 프로젝트에 재사용할 조건</a:t>
            </a:r>
          </a:p>
        </p:txBody>
      </p:sp>
      <p:sp>
        <p:nvSpPr>
          <p:cNvPr id="2" name="footer">
            <a:extLst xmlns:a="http://schemas.openxmlformats.org/drawingml/2006/main">
              <a:ext uri="{FF2B5EF4-FFF2-40B4-BE49-F238E27FC236}">
                <a16:creationId xmlns:a16="http://schemas.microsoft.com/office/drawing/2014/main" id="{4150F418-B4A8-4FC3-8AC3-730AAD1F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06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526270"/>
                </a:solidFill>
                <a:latin typeface="Noto Sans KR"/>
                <a:ea typeface="Noto Sans KR"/>
                <a:cs typeface="Noto Sans KR"/>
              </a:rPr>
              <a:t>P09 | 2019-04-18 | SYNTHETIC 가상 자료 | 4</a:t>
            </a:r>
          </a:p>
        </p:txBody>
      </p:sp>
      <p:sp>
        <p:nvSpPr>
          <p:cNvPr id="3" name="boundary">
            <a:extLst xmlns:a="http://schemas.openxmlformats.org/drawingml/2006/main">
              <a:ext uri="{FF2B5EF4-FFF2-40B4-BE49-F238E27FC236}">
                <a16:creationId xmlns:a16="http://schemas.microsoft.com/office/drawing/2014/main" id="{4F8B0426-10AB-46D8-943F-E71FB2A3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5727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운영시설 작업허가와 인도 절차에 참고한다. 철도 또는 도로의 허가 기준과 동일하다고 가정하지 않는다.</a:t>
            </a:r>
          </a:p>
        </p:txBody>
      </p:sp>
      <p:sp>
        <p:nvSpPr>
          <p:cNvPr id="4" name="second_lesson">
            <a:extLst xmlns:a="http://schemas.openxmlformats.org/drawingml/2006/main">
              <a:ext uri="{FF2B5EF4-FFF2-40B4-BE49-F238E27FC236}">
                <a16:creationId xmlns:a16="http://schemas.microsoft.com/office/drawing/2014/main" id="{CD99E643-C1AD-4115-9ACF-A0CA9558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2100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설비의 내염 사양과 검사 기록을 구매 단계에서 확인한다.</a:t>
            </a:r>
          </a:p>
        </p:txBody>
      </p:sp>
      <p:sp>
        <p:nvSpPr>
          <p:cNvPr id="5" name="notice">
            <a:extLst xmlns:a="http://schemas.openxmlformats.org/drawingml/2006/main">
              <a:ext uri="{FF2B5EF4-FFF2-40B4-BE49-F238E27FC236}">
                <a16:creationId xmlns:a16="http://schemas.microsoft.com/office/drawing/2014/main" id="{510EA974-2DE9-4EC2-B99F-16CB21A35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17242E"/>
                </a:solidFill>
                <a:latin typeface="Noto Sans KR"/>
                <a:ea typeface="Noto Sans KR"/>
                <a:cs typeface="Noto Sans KR"/>
              </a:rPr>
              <a:t>통지기한 7일은 이 계약의 조건입니다. 신규 계약의 유효본을 다시 확인해야 합니다.</a:t>
            </a:r>
          </a:p>
        </p:txBody>
      </p:sp>
    </p:spTree>
    <p:extLst>
      <p:ext uri="{BB962C8B-B14F-4D97-AF65-F5344CB8AC3E}">
        <p14:creationId xmlns:p14="http://schemas.microsoft.com/office/powerpoint/2010/main" val="596156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2026-09-20T13:12:20.9460000Z</dcterms:created>
  <dcterms:modified xsi:type="dcterms:W3CDTF">2026-09-20T13:12:20.9460000Z</dcterms:modified>
</coreProperties>
</file>