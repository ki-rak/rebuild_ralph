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a57c638de3468f" /><Relationship Type="http://schemas.openxmlformats.org/officeDocument/2006/relationships/extended-properties" Target="/docProps/app.xml" Id="R97dd27b47d154679" /><Relationship Type="http://schemas.openxmlformats.org/officeDocument/2006/relationships/officeDocument" Target="/ppt/presentation.xml" Id="Rea939b911cac47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202cd459c74421"/>
  </p:sldMasterIdLst>
  <p:notesMasterIdLst>
    <p:notesMasterId xmlns:r="http://schemas.openxmlformats.org/officeDocument/2006/relationships" r:id="R8d940ab0a14e47e8"/>
  </p:notesMasterIdLst>
  <p:sldIdLst>
    <p:sldId xmlns:r="http://schemas.openxmlformats.org/officeDocument/2006/relationships" id="256" r:id="R92c7fda3f8504d06"/>
    <p:sldId xmlns:r="http://schemas.openxmlformats.org/officeDocument/2006/relationships" id="257" r:id="Rf36b8a2d715f4907"/>
    <p:sldId xmlns:r="http://schemas.openxmlformats.org/officeDocument/2006/relationships" id="258" r:id="Rb8c2f2b039dc490b"/>
    <p:sldId xmlns:r="http://schemas.openxmlformats.org/officeDocument/2006/relationships" id="259" r:id="R24ea924aab6045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a6c7ea07944e18" /><Relationship Type="http://schemas.openxmlformats.org/officeDocument/2006/relationships/slideMaster" Target="/ppt/slideMasters/slideMaster1.xml" Id="R65202cd459c74421" /><Relationship Type="http://schemas.openxmlformats.org/officeDocument/2006/relationships/notesMaster" Target="/ppt/notesMasters/notesMaster1.xml" Id="R8d940ab0a14e47e8" /><Relationship Type="http://schemas.openxmlformats.org/officeDocument/2006/relationships/presProps" Target="/ppt/presProps.xml" Id="Rcf17782fd6ef418a" /><Relationship Type="http://schemas.openxmlformats.org/officeDocument/2006/relationships/tableStyles" Target="/ppt/tableStyles.xml" Id="R5e7f3ae830a240ae" /><Relationship Type="http://schemas.openxmlformats.org/officeDocument/2006/relationships/slide" Target="/ppt/slides/slide1.xml" Id="R92c7fda3f8504d06" /><Relationship Type="http://schemas.openxmlformats.org/officeDocument/2006/relationships/slide" Target="/ppt/slides/slide2.xml" Id="Rf36b8a2d715f4907" /><Relationship Type="http://schemas.openxmlformats.org/officeDocument/2006/relationships/slide" Target="/ppt/slides/slide3.xml" Id="Rb8c2f2b039dc490b" /><Relationship Type="http://schemas.openxmlformats.org/officeDocument/2006/relationships/slide" Target="/ppt/slides/slide4.xml" Id="R24ea924aab6045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871f7adfad44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240437ca72449a" /><Relationship Type="http://schemas.openxmlformats.org/officeDocument/2006/relationships/notesMaster" Target="/ppt/notesMasters/notesMaster1.xml" Id="R0a83a8a8971d4e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a293e8bb8f4198" /><Relationship Type="http://schemas.openxmlformats.org/officeDocument/2006/relationships/notesMaster" Target="/ppt/notesMasters/notesMaster1.xml" Id="Rf8ebbb629afb41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c6985305b5453a" /><Relationship Type="http://schemas.openxmlformats.org/officeDocument/2006/relationships/notesMaster" Target="/ppt/notesMasters/notesMaster1.xml" Id="R2ffcf462bb454d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593d2e65a24973" /><Relationship Type="http://schemas.openxmlformats.org/officeDocument/2006/relationships/notesMaster" Target="/ppt/notesMasters/notesMaster1.xml" Id="R59428415a3e244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P14-BRF-001 사업범위 표 및 정산 결과. 모든 값은 합성 자료이며 계약금액은 세금 제외 JV 전체 기준.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P14-LL01; P14-MOM-001 D01. 슬라이드 금액은 Cost 시트 실적에 포함되어 있으므로 재합산하지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P14-COM-001 Summary B6:B14. 공제 후 잔여 = 최종 계약수입 - 최종원가 - 지체상금.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P14-LL01, P14-LL02, P14-ITB-001 20.1. 적용성은 신규 프로젝트와 비교 후 판단.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5a754e16d445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425e70852f47d5" /><Relationship Type="http://schemas.openxmlformats.org/officeDocument/2006/relationships/slideLayout" Target="/ppt/slideLayouts/slideLayout1.xml" Id="Rcda5cc367d2149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a5cc367d2149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8292f41d44d08" /><Relationship Type="http://schemas.openxmlformats.org/officeDocument/2006/relationships/notesSlide" Target="/ppt/notesSlides/notesSlide1.xml" Id="R72a5e2162bd34a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154cd9f764e6b" /><Relationship Type="http://schemas.openxmlformats.org/officeDocument/2006/relationships/notesSlide" Target="/ppt/notesSlides/notesSlide2.xml" Id="R75d01519b7a140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1c5e5ce684910" /><Relationship Type="http://schemas.openxmlformats.org/officeDocument/2006/relationships/notesSlide" Target="/ppt/notesSlides/notesSlide3.xml" Id="Rf9c4b28bd8f94d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49e8c9f3643bd" /><Relationship Type="http://schemas.openxmlformats.org/officeDocument/2006/relationships/notesSlide" Target="/ppt/notesSlides/notesSlide4.xml" Id="R9e8e5ed8648947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635844D-6ACC-4F5F-805B-1B661461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세온 데이터센터 기반시설 준공 심의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595DBB6C-86DB-46C4-9C25-7DBD8185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P14 | 2017-12-26 | SYNTHETIC 가상 자료 | 1</a:t>
            </a:r>
          </a:p>
        </p:txBody>
      </p:sp>
      <p:sp>
        <p:nvSpPr>
          <p:cNvPr id="3" name="scope">
            <a:extLst xmlns:a="http://schemas.openxmlformats.org/drawingml/2006/main">
              <a:ext uri="{FF2B5EF4-FFF2-40B4-BE49-F238E27FC236}">
                <a16:creationId xmlns:a16="http://schemas.microsoft.com/office/drawing/2014/main" id="{23272B11-ECB2-4A98-873A-5C9C4EBE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공동구 1.8 km, 변전동 1개, 냉각수관 4.2 km</a:t>
            </a:r>
          </a:p>
        </p:txBody>
      </p:sp>
      <p:sp>
        <p:nvSpPr>
          <p:cNvPr id="4" name="terms">
            <a:extLst xmlns:a="http://schemas.openxmlformats.org/drawingml/2006/main">
              <a:ext uri="{FF2B5EF4-FFF2-40B4-BE49-F238E27FC236}">
                <a16:creationId xmlns:a16="http://schemas.microsoft.com/office/drawing/2014/main" id="{D2C1628D-16C2-4DE3-8B45-5B91B22A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설계시공 일괄  /  USD 112 million</a:t>
            </a:r>
          </a:p>
          <a:p xmlns:a="http://schemas.openxmlformats.org/drawingml/2006/main">
            <a:pPr>
              <a:def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계획 20개월  /  당사 JV 지분 80%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9E4164BE-7215-41FF-AEFA-56D9EAC4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심의 결과: 변경 1.6 million 승인, 미승인 추가원가 1.20 million 종결</a:t>
            </a:r>
          </a:p>
        </p:txBody>
      </p:sp>
    </p:spTree>
    <p:extLst>
      <p:ext uri="{BB962C8B-B14F-4D97-AF65-F5344CB8AC3E}">
        <p14:creationId xmlns:p14="http://schemas.microsoft.com/office/powerpoint/2010/main" val="10656713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53AA1A0-C4DF-4E7E-B1A3-04322346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전력 인입과 장기납기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766509C5-1C0A-4D4A-8B17-7AFCED1A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P14 | 2017-12-26 | SYNTHETIC 가상 자료 | 2</a:t>
            </a:r>
          </a:p>
        </p:txBody>
      </p:sp>
      <p:sp>
        <p:nvSpPr>
          <p:cNvPr id="3" name="event">
            <a:extLst xmlns:a="http://schemas.openxmlformats.org/drawingml/2006/main">
              <a:ext uri="{FF2B5EF4-FFF2-40B4-BE49-F238E27FC236}">
                <a16:creationId xmlns:a16="http://schemas.microsoft.com/office/drawing/2014/main" id="{020BE8CF-D280-4248-BAD3-4E34479F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주변압기 형식 승인에 6주가 추가되어 수전일과 통합시험일이 충돌했다.</a:t>
            </a:r>
          </a:p>
        </p:txBody>
      </p:sp>
      <p:sp>
        <p:nvSpPr>
          <p:cNvPr id="4" name="response">
            <a:extLst xmlns:a="http://schemas.openxmlformats.org/drawingml/2006/main">
              <a:ext uri="{FF2B5EF4-FFF2-40B4-BE49-F238E27FC236}">
                <a16:creationId xmlns:a16="http://schemas.microsoft.com/office/drawing/2014/main" id="{E41F7BAE-BC51-4F4C-825E-F8B5D1CE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057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공급사 승인도서와 공장시험을 일정에 연결하고 임시전원 사용 범위를 발주처와 합의했다.</a:t>
            </a:r>
          </a:p>
        </p:txBody>
      </p:sp>
      <p:sp>
        <p:nvSpPr>
          <p:cNvPr id="5" name="impact">
            <a:extLst xmlns:a="http://schemas.openxmlformats.org/drawingml/2006/main">
              <a:ext uri="{FF2B5EF4-FFF2-40B4-BE49-F238E27FC236}">
                <a16:creationId xmlns:a16="http://schemas.microsoft.com/office/drawing/2014/main" id="{B7C263B0-2C94-4D68-BED6-02B76548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실제 지연 20일 / 승인 EOT 15일 / 추가원가 2.8 USD million</a:t>
            </a:r>
          </a:p>
        </p:txBody>
      </p:sp>
    </p:spTree>
    <p:extLst>
      <p:ext uri="{BB962C8B-B14F-4D97-AF65-F5344CB8AC3E}">
        <p14:creationId xmlns:p14="http://schemas.microsoft.com/office/powerpoint/2010/main" val="1844110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42E22B1-5434-484D-AFF5-DC86561F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원가와 계약 정산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06A8CE13-E541-4429-8E44-2B76C827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P14 | 2017-12-26 | SYNTHETIC 가상 자료 | 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62000" y="1476375"/>
          <a:ext xmlns:a="http://schemas.openxmlformats.org/drawingml/2006/main" cx="104775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477000"/>
                <a:gridCol w="4000500"/>
              </a:tblGrid>
              <a:tr h="6429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18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USD million</a:t>
                      </a:r>
                    </a:p>
                  </a:txBody>
                  <a:tcPr marL="91440" marR="91440" marT="45720" marB="45720">
                    <a:solidFill>
                      <a:srgbClr val="1833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원계약금액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 계약수입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113.6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최종원가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101.36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지체상금 공제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0.28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공제 후 잔여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11.9600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asis">
            <a:extLst xmlns:a="http://schemas.openxmlformats.org/drawingml/2006/main">
              <a:ext uri="{FF2B5EF4-FFF2-40B4-BE49-F238E27FC236}">
                <a16:creationId xmlns:a16="http://schemas.microsoft.com/office/drawing/2014/main" id="{E144124B-E8FC-48ED-B1C1-D613BF5C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세금·금융비용 전. 원가와 수입을 구분하며 지분율을 곱하기 전의 JV 전체 금액입니다.</a:t>
            </a:r>
          </a:p>
        </p:txBody>
      </p:sp>
    </p:spTree>
    <p:extLst>
      <p:ext uri="{BB962C8B-B14F-4D97-AF65-F5344CB8AC3E}">
        <p14:creationId xmlns:p14="http://schemas.microsoft.com/office/powerpoint/2010/main" val="11110041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A08F722-6C0A-45A2-A047-5B88AEC4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후속 프로젝트에 재사용할 조건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003A83AC-5E0F-4088-81C1-BEEC1F33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P14 | 2017-12-26 | SYNTHETIC 가상 자료 | 4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0DC00C4D-3A19-4127-B0E6-8C20C6DF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572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장기납기 설비의 승인·제작·검사·운송 선행관계에 적용한다. 임시전원이 성능시험 조건을 충족하는지는 별도로 확인한다.</a:t>
            </a:r>
          </a:p>
        </p:txBody>
      </p:sp>
      <p:sp>
        <p:nvSpPr>
          <p:cNvPr id="4" name="second_lesson">
            <a:extLst xmlns:a="http://schemas.openxmlformats.org/drawingml/2006/main">
              <a:ext uri="{FF2B5EF4-FFF2-40B4-BE49-F238E27FC236}">
                <a16:creationId xmlns:a16="http://schemas.microsoft.com/office/drawing/2014/main" id="{0C50CE40-4560-439E-9258-C64FBCC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공종별 인도 지점과 시험 책임을 인터페이스 표로 확정한다.</a:t>
            </a:r>
          </a:p>
        </p:txBody>
      </p:sp>
      <p:sp>
        <p:nvSpPr>
          <p:cNvPr id="5" name="notice">
            <a:extLst xmlns:a="http://schemas.openxmlformats.org/drawingml/2006/main">
              <a:ext uri="{FF2B5EF4-FFF2-40B4-BE49-F238E27FC236}">
                <a16:creationId xmlns:a16="http://schemas.microsoft.com/office/drawing/2014/main" id="{A229BC7C-725E-4BD3-B5F8-C3C99B39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통지기한 14일은 이 계약의 조건입니다. 신규 계약의 유효본을 다시 확인해야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4967453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2026-09-20T13:12:35.0890000Z</dcterms:created>
  <dcterms:modified xsi:type="dcterms:W3CDTF">2026-09-20T13:12:35.0890000Z</dcterms:modified>
</coreProperties>
</file>