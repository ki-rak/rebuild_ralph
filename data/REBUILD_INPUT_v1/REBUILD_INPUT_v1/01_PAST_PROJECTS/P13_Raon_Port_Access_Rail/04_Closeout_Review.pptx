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7395a9580954d63" /><Relationship Type="http://schemas.openxmlformats.org/officeDocument/2006/relationships/extended-properties" Target="/docProps/app.xml" Id="Redc03d1f96cf42d8" /><Relationship Type="http://schemas.openxmlformats.org/officeDocument/2006/relationships/officeDocument" Target="/ppt/presentation.xml" Id="R7c18cca196174b3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8ae7f46576d4a0a"/>
  </p:sldMasterIdLst>
  <p:notesMasterIdLst>
    <p:notesMasterId xmlns:r="http://schemas.openxmlformats.org/officeDocument/2006/relationships" r:id="R8868dd404c8b41c6"/>
  </p:notesMasterIdLst>
  <p:sldIdLst>
    <p:sldId xmlns:r="http://schemas.openxmlformats.org/officeDocument/2006/relationships" id="256" r:id="R2219fd9fe7594177"/>
    <p:sldId xmlns:r="http://schemas.openxmlformats.org/officeDocument/2006/relationships" id="257" r:id="R6c772062ed2044a1"/>
    <p:sldId xmlns:r="http://schemas.openxmlformats.org/officeDocument/2006/relationships" id="258" r:id="R0d0d32fb2a3d4e64"/>
    <p:sldId xmlns:r="http://schemas.openxmlformats.org/officeDocument/2006/relationships" id="259" r:id="R7728f0e4258247d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ba9a527a3384670" /><Relationship Type="http://schemas.openxmlformats.org/officeDocument/2006/relationships/slideMaster" Target="/ppt/slideMasters/slideMaster1.xml" Id="Ra8ae7f46576d4a0a" /><Relationship Type="http://schemas.openxmlformats.org/officeDocument/2006/relationships/notesMaster" Target="/ppt/notesMasters/notesMaster1.xml" Id="R8868dd404c8b41c6" /><Relationship Type="http://schemas.openxmlformats.org/officeDocument/2006/relationships/presProps" Target="/ppt/presProps.xml" Id="R3638fe03f75f466c" /><Relationship Type="http://schemas.openxmlformats.org/officeDocument/2006/relationships/tableStyles" Target="/ppt/tableStyles.xml" Id="R156d70bb3a684f98" /><Relationship Type="http://schemas.openxmlformats.org/officeDocument/2006/relationships/slide" Target="/ppt/slides/slide1.xml" Id="R2219fd9fe7594177" /><Relationship Type="http://schemas.openxmlformats.org/officeDocument/2006/relationships/slide" Target="/ppt/slides/slide2.xml" Id="R6c772062ed2044a1" /><Relationship Type="http://schemas.openxmlformats.org/officeDocument/2006/relationships/slide" Target="/ppt/slides/slide3.xml" Id="R0d0d32fb2a3d4e64" /><Relationship Type="http://schemas.openxmlformats.org/officeDocument/2006/relationships/slide" Target="/ppt/slides/slide4.xml" Id="R7728f0e4258247d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d34c1373ac54d5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600894c30ab4687" /><Relationship Type="http://schemas.openxmlformats.org/officeDocument/2006/relationships/notesMaster" Target="/ppt/notesMasters/notesMaster1.xml" Id="Rbc41ee98ccba43f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1464dcb8bef4dc4" /><Relationship Type="http://schemas.openxmlformats.org/officeDocument/2006/relationships/notesMaster" Target="/ppt/notesMasters/notesMaster1.xml" Id="R02d3a7b7685b472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3f83d96cdb04bc0" /><Relationship Type="http://schemas.openxmlformats.org/officeDocument/2006/relationships/notesMaster" Target="/ppt/notesMasters/notesMaster1.xml" Id="R1c4692f8fe1e467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e07742887ef4121" /><Relationship Type="http://schemas.openxmlformats.org/officeDocument/2006/relationships/notesMaster" Target="/ppt/notesMasters/notesMaster1.xml" Id="Rfc8cfd6bfa1d4f0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P13-BRF-001 사업범위 표 및 정산 결과. 모든 값은 합성 자료이며 계약금액은 세금 제외 JV 전체 기준.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P13-LL01; P13-MOM-001 D01. 슬라이드 금액은 Cost 시트 실적에 포함되어 있으므로 재합산하지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P13-COM-001 Summary B6:B14. 공제 후 잔여 = 최종 계약수입 - 최종원가 - 지체상금.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P13-LL01, P13-LL02, P13-ITB-001 20.1. 적용성은 신규 프로젝트와 비교 후 판단.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674d68f5b9408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4fb950bfe67414d" /><Relationship Type="http://schemas.openxmlformats.org/officeDocument/2006/relationships/slideLayout" Target="/ppt/slideLayouts/slideLayout1.xml" Id="Rb6cf663e38d645a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6cf663e38d645a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842912036a4672" /><Relationship Type="http://schemas.openxmlformats.org/officeDocument/2006/relationships/notesSlide" Target="/ppt/notesSlides/notesSlide1.xml" Id="Rbd039e2889a04c6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863d49f450439d" /><Relationship Type="http://schemas.openxmlformats.org/officeDocument/2006/relationships/notesSlide" Target="/ppt/notesSlides/notesSlide2.xml" Id="Rdf1e3c618a334a3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0c918934924ba0" /><Relationship Type="http://schemas.openxmlformats.org/officeDocument/2006/relationships/notesSlide" Target="/ppt/notesSlides/notesSlide3.xml" Id="Rfc7c930ebe76445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01ad2cd7f84c66" /><Relationship Type="http://schemas.openxmlformats.org/officeDocument/2006/relationships/notesSlide" Target="/ppt/notesSlides/notesSlide4.xml" Id="Rc5cce9d08641470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9A6457B2-C6F8-4447-A46E-1621EB385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334D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8334D"/>
                </a:solidFill>
                <a:latin typeface="Noto Sans KR"/>
                <a:ea typeface="Noto Sans KR"/>
                <a:cs typeface="Noto Sans KR"/>
              </a:rPr>
              <a:t>라온 항만 배후철도 준공 심의</a:t>
            </a:r>
          </a:p>
        </p:txBody>
      </p:sp>
      <p:sp>
        <p:nvSpPr>
          <p:cNvPr id="2" name="footer">
            <a:extLst xmlns:a="http://schemas.openxmlformats.org/drawingml/2006/main">
              <a:ext uri="{FF2B5EF4-FFF2-40B4-BE49-F238E27FC236}">
                <a16:creationId xmlns:a16="http://schemas.microsoft.com/office/drawing/2014/main" id="{4B749584-C0F4-4D66-8704-204B495B6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06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2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26270"/>
                </a:solidFill>
                <a:latin typeface="Noto Sans KR"/>
                <a:ea typeface="Noto Sans KR"/>
                <a:cs typeface="Noto Sans KR"/>
              </a:rPr>
              <a:t>P13 | 2017-08-13 | SYNTHETIC 가상 자료 | 1</a:t>
            </a:r>
          </a:p>
        </p:txBody>
      </p:sp>
      <p:sp>
        <p:nvSpPr>
          <p:cNvPr id="3" name="scope">
            <a:extLst xmlns:a="http://schemas.openxmlformats.org/drawingml/2006/main">
              <a:ext uri="{FF2B5EF4-FFF2-40B4-BE49-F238E27FC236}">
                <a16:creationId xmlns:a16="http://schemas.microsoft.com/office/drawing/2014/main" id="{6A0E0C83-FE71-4D2F-AC67-13ACEC110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1047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철도노반 12.4 km, 배수암거 19개, 교량 3개소</a:t>
            </a:r>
          </a:p>
        </p:txBody>
      </p:sp>
      <p:sp>
        <p:nvSpPr>
          <p:cNvPr id="4" name="terms">
            <a:extLst xmlns:a="http://schemas.openxmlformats.org/drawingml/2006/main">
              <a:ext uri="{FF2B5EF4-FFF2-40B4-BE49-F238E27FC236}">
                <a16:creationId xmlns:a16="http://schemas.microsoft.com/office/drawing/2014/main" id="{74D31403-2600-4E39-9F6D-EFEE31DFE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실측정산  /  USD 147 million</a:t>
            </a:r>
          </a:p>
          <a:p xmlns:a="http://schemas.openxmlformats.org/drawingml/2006/main">
            <a:pPr>
              <a:defRPr sz="225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계획 29개월  /  당사 JV 지분 60%</a:t>
            </a:r>
          </a:p>
        </p:txBody>
      </p:sp>
      <p:sp>
        <p:nvSpPr>
          <p:cNvPr id="5" name="decision">
            <a:extLst xmlns:a="http://schemas.openxmlformats.org/drawingml/2006/main">
              <a:ext uri="{FF2B5EF4-FFF2-40B4-BE49-F238E27FC236}">
                <a16:creationId xmlns:a16="http://schemas.microsoft.com/office/drawing/2014/main" id="{230E517D-2DE7-4210-9D4F-FB9F2DACE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7195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심의 결과: 변경 0.4 million 승인, 미승인 추가원가 0.80 million 종결</a:t>
            </a:r>
          </a:p>
        </p:txBody>
      </p:sp>
    </p:spTree>
    <p:extLst>
      <p:ext uri="{BB962C8B-B14F-4D97-AF65-F5344CB8AC3E}">
        <p14:creationId xmlns:p14="http://schemas.microsoft.com/office/powerpoint/2010/main" val="19288856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589D11B9-A75D-4CFF-ADAE-7F6E0F94B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334D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8334D"/>
                </a:solidFill>
                <a:latin typeface="Noto Sans KR"/>
                <a:ea typeface="Noto Sans KR"/>
                <a:cs typeface="Noto Sans KR"/>
              </a:rPr>
              <a:t>문서 유효본과 승인 상태</a:t>
            </a:r>
          </a:p>
        </p:txBody>
      </p:sp>
      <p:sp>
        <p:nvSpPr>
          <p:cNvPr id="2" name="footer">
            <a:extLst xmlns:a="http://schemas.openxmlformats.org/drawingml/2006/main">
              <a:ext uri="{FF2B5EF4-FFF2-40B4-BE49-F238E27FC236}">
                <a16:creationId xmlns:a16="http://schemas.microsoft.com/office/drawing/2014/main" id="{37528C98-5660-4610-939B-A5C0D02E6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06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2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26270"/>
                </a:solidFill>
                <a:latin typeface="Noto Sans KR"/>
                <a:ea typeface="Noto Sans KR"/>
                <a:cs typeface="Noto Sans KR"/>
              </a:rPr>
              <a:t>P13 | 2017-08-13 | SYNTHETIC 가상 자료 | 2</a:t>
            </a:r>
          </a:p>
        </p:txBody>
      </p:sp>
      <p:sp>
        <p:nvSpPr>
          <p:cNvPr id="3" name="event">
            <a:extLst xmlns:a="http://schemas.openxmlformats.org/drawingml/2006/main">
              <a:ext uri="{FF2B5EF4-FFF2-40B4-BE49-F238E27FC236}">
                <a16:creationId xmlns:a16="http://schemas.microsoft.com/office/drawing/2014/main" id="{AE179376-DA03-41FA-A77C-C686CE3BA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47800"/>
            <a:ext cx="10572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수정번호가 높은 배수계획 Rev03이 검토용이었으나 현장 작업자가 시공 승인본으로 오인했다.</a:t>
            </a:r>
          </a:p>
        </p:txBody>
      </p:sp>
      <p:sp>
        <p:nvSpPr>
          <p:cNvPr id="4" name="response">
            <a:extLst xmlns:a="http://schemas.openxmlformats.org/drawingml/2006/main">
              <a:ext uri="{FF2B5EF4-FFF2-40B4-BE49-F238E27FC236}">
                <a16:creationId xmlns:a16="http://schemas.microsoft.com/office/drawing/2014/main" id="{86F72327-FCCF-444B-B854-DC0FC0FF9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10572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Rev02 승인본을 배포하고 문서대장에 상태·승인일·대체관계를 함께 기록했다.</a:t>
            </a:r>
          </a:p>
        </p:txBody>
      </p:sp>
      <p:sp>
        <p:nvSpPr>
          <p:cNvPr id="5" name="impact">
            <a:extLst xmlns:a="http://schemas.openxmlformats.org/drawingml/2006/main">
              <a:ext uri="{FF2B5EF4-FFF2-40B4-BE49-F238E27FC236}">
                <a16:creationId xmlns:a16="http://schemas.microsoft.com/office/drawing/2014/main" id="{A2FE3E50-83FF-43F6-9B47-35DDE1E54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실제 지연 9일 / 승인 EOT 5일 / 추가원가 1.2 USD million</a:t>
            </a:r>
          </a:p>
        </p:txBody>
      </p:sp>
    </p:spTree>
    <p:extLst>
      <p:ext uri="{BB962C8B-B14F-4D97-AF65-F5344CB8AC3E}">
        <p14:creationId xmlns:p14="http://schemas.microsoft.com/office/powerpoint/2010/main" val="9648497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992CF8D6-EADD-4EC7-A7C1-9596232D7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334D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8334D"/>
                </a:solidFill>
                <a:latin typeface="Noto Sans KR"/>
                <a:ea typeface="Noto Sans KR"/>
                <a:cs typeface="Noto Sans KR"/>
              </a:rPr>
              <a:t>원가와 계약 정산</a:t>
            </a:r>
          </a:p>
        </p:txBody>
      </p:sp>
      <p:sp>
        <p:nvSpPr>
          <p:cNvPr id="2" name="footer">
            <a:extLst xmlns:a="http://schemas.openxmlformats.org/drawingml/2006/main">
              <a:ext uri="{FF2B5EF4-FFF2-40B4-BE49-F238E27FC236}">
                <a16:creationId xmlns:a16="http://schemas.microsoft.com/office/drawing/2014/main" id="{B6652393-D12F-4478-84DF-9E2D0FE19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06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2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26270"/>
                </a:solidFill>
                <a:latin typeface="Noto Sans KR"/>
                <a:ea typeface="Noto Sans KR"/>
                <a:cs typeface="Noto Sans KR"/>
              </a:rPr>
              <a:t>P13 | 2017-08-13 | SYNTHETIC 가상 자료 | 3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762000" y="1476375"/>
          <a:ext xmlns:a="http://schemas.openxmlformats.org/drawingml/2006/main" cx="10477500" cy="3857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477000"/>
                <a:gridCol w="4000500"/>
              </a:tblGrid>
              <a:tr h="642938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항목</a:t>
                      </a:r>
                    </a:p>
                  </a:txBody>
                  <a:tcPr marL="91440" marR="91440" marT="45720" marB="45720">
                    <a:solidFill>
                      <a:srgbClr val="1833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USD million</a:t>
                      </a:r>
                    </a:p>
                  </a:txBody>
                  <a:tcPr marL="91440" marR="91440" marT="45720" marB="45720">
                    <a:solidFill>
                      <a:srgbClr val="18334D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원계약금액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147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최종 계약수입</a:t>
                      </a:r>
                    </a:p>
                  </a:txBody>
                  <a:tcPr marL="91440" marR="91440" marT="45720" marB="45720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147.4</a:t>
                      </a:r>
                    </a:p>
                  </a:txBody>
                  <a:tcPr marL="91440" marR="91440" marT="45720" marB="45720">
                    <a:solidFill>
                      <a:srgbClr val="F0F4F7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최종원가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130.56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지체상금 공제</a:t>
                      </a:r>
                    </a:p>
                  </a:txBody>
                  <a:tcPr marL="91440" marR="91440" marT="45720" marB="45720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0.294</a:t>
                      </a:r>
                    </a:p>
                  </a:txBody>
                  <a:tcPr marL="91440" marR="91440" marT="45720" marB="45720">
                    <a:solidFill>
                      <a:srgbClr val="F0F4F7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공제 후 잔여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16.5460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basis">
            <a:extLst xmlns:a="http://schemas.openxmlformats.org/drawingml/2006/main">
              <a:ext uri="{FF2B5EF4-FFF2-40B4-BE49-F238E27FC236}">
                <a16:creationId xmlns:a16="http://schemas.microsoft.com/office/drawing/2014/main" id="{84A4E3D2-9353-4AB0-B703-E5511B3B6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세금·금융비용 전. 원가와 수입을 구분하며 지분율을 곱하기 전의 JV 전체 금액입니다.</a:t>
            </a:r>
          </a:p>
        </p:txBody>
      </p:sp>
    </p:spTree>
    <p:extLst>
      <p:ext uri="{BB962C8B-B14F-4D97-AF65-F5344CB8AC3E}">
        <p14:creationId xmlns:p14="http://schemas.microsoft.com/office/powerpoint/2010/main" val="7577095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04A752C1-12A9-4470-9E67-7EC435A41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334D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8334D"/>
                </a:solidFill>
                <a:latin typeface="Noto Sans KR"/>
                <a:ea typeface="Noto Sans KR"/>
                <a:cs typeface="Noto Sans KR"/>
              </a:rPr>
              <a:t>후속 프로젝트에 재사용할 조건</a:t>
            </a:r>
          </a:p>
        </p:txBody>
      </p:sp>
      <p:sp>
        <p:nvSpPr>
          <p:cNvPr id="2" name="footer">
            <a:extLst xmlns:a="http://schemas.openxmlformats.org/drawingml/2006/main">
              <a:ext uri="{FF2B5EF4-FFF2-40B4-BE49-F238E27FC236}">
                <a16:creationId xmlns:a16="http://schemas.microsoft.com/office/drawing/2014/main" id="{86CDD668-8D94-4FC6-8A80-5249ADA9A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06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2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26270"/>
                </a:solidFill>
                <a:latin typeface="Noto Sans KR"/>
                <a:ea typeface="Noto Sans KR"/>
                <a:cs typeface="Noto Sans KR"/>
              </a:rPr>
              <a:t>P13 | 2017-08-13 | SYNTHETIC 가상 자료 | 4</a:t>
            </a:r>
          </a:p>
        </p:txBody>
      </p:sp>
      <p:sp>
        <p:nvSpPr>
          <p:cNvPr id="3" name="boundary">
            <a:extLst xmlns:a="http://schemas.openxmlformats.org/drawingml/2006/main">
              <a:ext uri="{FF2B5EF4-FFF2-40B4-BE49-F238E27FC236}">
                <a16:creationId xmlns:a16="http://schemas.microsoft.com/office/drawing/2014/main" id="{0B122C3B-6326-4EA0-9062-2A9A8FA53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5727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문서의 수정번호만으로 유효본을 선택하지 않는 관리 절차는 공종과 무관하게 재사용할 수 있다.</a:t>
            </a:r>
          </a:p>
        </p:txBody>
      </p:sp>
      <p:sp>
        <p:nvSpPr>
          <p:cNvPr id="4" name="second_lesson">
            <a:extLst xmlns:a="http://schemas.openxmlformats.org/drawingml/2006/main">
              <a:ext uri="{FF2B5EF4-FFF2-40B4-BE49-F238E27FC236}">
                <a16:creationId xmlns:a16="http://schemas.microsoft.com/office/drawing/2014/main" id="{834F220D-39CB-483D-B599-99B48B3F6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95675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수량·단위·인수일을 원본별로 대조하고 차이를 승인받는다.</a:t>
            </a:r>
          </a:p>
        </p:txBody>
      </p:sp>
      <p:sp>
        <p:nvSpPr>
          <p:cNvPr id="5" name="notice">
            <a:extLst xmlns:a="http://schemas.openxmlformats.org/drawingml/2006/main">
              <a:ext uri="{FF2B5EF4-FFF2-40B4-BE49-F238E27FC236}">
                <a16:creationId xmlns:a16="http://schemas.microsoft.com/office/drawing/2014/main" id="{4F64C23A-95D7-41E5-ADFB-61AB92D0B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29200"/>
            <a:ext cx="1057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통지기한 14일은 이 계약의 조건입니다. 신규 계약의 유효본을 다시 확인해야 합니다.</a:t>
            </a:r>
          </a:p>
        </p:txBody>
      </p:sp>
    </p:spTree>
    <p:extLst>
      <p:ext uri="{BB962C8B-B14F-4D97-AF65-F5344CB8AC3E}">
        <p14:creationId xmlns:p14="http://schemas.microsoft.com/office/powerpoint/2010/main" val="19866477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2026-09-20T13:12:32.2790000Z</dcterms:created>
  <dcterms:modified xsi:type="dcterms:W3CDTF">2026-09-20T13:12:32.2790000Z</dcterms:modified>
</coreProperties>
</file>