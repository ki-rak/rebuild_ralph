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44b44a29014297" /><Relationship Type="http://schemas.openxmlformats.org/officeDocument/2006/relationships/extended-properties" Target="/docProps/app.xml" Id="R2a3950ed186b46c5" /><Relationship Type="http://schemas.openxmlformats.org/officeDocument/2006/relationships/officeDocument" Target="/ppt/presentation.xml" Id="R62cf01d19aa549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192b867dbe41fc"/>
  </p:sldMasterIdLst>
  <p:notesMasterIdLst>
    <p:notesMasterId xmlns:r="http://schemas.openxmlformats.org/officeDocument/2006/relationships" r:id="Rac107426b0b54703"/>
  </p:notesMasterIdLst>
  <p:sldIdLst>
    <p:sldId xmlns:r="http://schemas.openxmlformats.org/officeDocument/2006/relationships" id="256" r:id="Rc88ba59983fb4ae8"/>
    <p:sldId xmlns:r="http://schemas.openxmlformats.org/officeDocument/2006/relationships" id="257" r:id="R8577e4f5e8ce4fe8"/>
    <p:sldId xmlns:r="http://schemas.openxmlformats.org/officeDocument/2006/relationships" id="258" r:id="R39d25bea4a2e4c15"/>
    <p:sldId xmlns:r="http://schemas.openxmlformats.org/officeDocument/2006/relationships" id="259" r:id="Rdc3dcfa56c9c4f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6b8af38a1a4f00" /><Relationship Type="http://schemas.openxmlformats.org/officeDocument/2006/relationships/slideMaster" Target="/ppt/slideMasters/slideMaster1.xml" Id="Re4192b867dbe41fc" /><Relationship Type="http://schemas.openxmlformats.org/officeDocument/2006/relationships/notesMaster" Target="/ppt/notesMasters/notesMaster1.xml" Id="Rac107426b0b54703" /><Relationship Type="http://schemas.openxmlformats.org/officeDocument/2006/relationships/presProps" Target="/ppt/presProps.xml" Id="Rb161b01ea2d54606" /><Relationship Type="http://schemas.openxmlformats.org/officeDocument/2006/relationships/tableStyles" Target="/ppt/tableStyles.xml" Id="R91a5751a4ebb4c3b" /><Relationship Type="http://schemas.openxmlformats.org/officeDocument/2006/relationships/slide" Target="/ppt/slides/slide1.xml" Id="Rc88ba59983fb4ae8" /><Relationship Type="http://schemas.openxmlformats.org/officeDocument/2006/relationships/slide" Target="/ppt/slides/slide2.xml" Id="R8577e4f5e8ce4fe8" /><Relationship Type="http://schemas.openxmlformats.org/officeDocument/2006/relationships/slide" Target="/ppt/slides/slide3.xml" Id="R39d25bea4a2e4c15" /><Relationship Type="http://schemas.openxmlformats.org/officeDocument/2006/relationships/slide" Target="/ppt/slides/slide4.xml" Id="Rdc3dcfa56c9c4f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0b2b7f952848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d426f33d854d44" /><Relationship Type="http://schemas.openxmlformats.org/officeDocument/2006/relationships/notesMaster" Target="/ppt/notesMasters/notesMaster1.xml" Id="R4f2d924067464e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3709a890fc413d" /><Relationship Type="http://schemas.openxmlformats.org/officeDocument/2006/relationships/notesMaster" Target="/ppt/notesMasters/notesMaster1.xml" Id="R17b46c6169cb4a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2a2286f58a4321" /><Relationship Type="http://schemas.openxmlformats.org/officeDocument/2006/relationships/notesMaster" Target="/ppt/notesMasters/notesMaster1.xml" Id="Rf903631f9e084a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6d1bacfb584256" /><Relationship Type="http://schemas.openxmlformats.org/officeDocument/2006/relationships/notesMaster" Target="/ppt/notesMasters/notesMaster1.xml" Id="R9105f13e833349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P15-BRF-001 사업범위 표 및 정산 결과. 모든 값은 합성 자료이며 계약금액은 세금 제외 JV 전체 기준.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P15-LL01; P15-MOM-001 D01. 슬라이드 금액은 Cost 시트 실적에 포함되어 있으므로 재합산하지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P15-COM-001 Summary B6:B14. 공제 후 잔여 = 최종 계약수입 - 최종원가 - 지체상금.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P15-LL01, P15-LL02, P15-ITB-001 20.1. 적용성은 신규 프로젝트와 비교 후 판단.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041695382549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f70f6d63e84f9e" /><Relationship Type="http://schemas.openxmlformats.org/officeDocument/2006/relationships/slideLayout" Target="/ppt/slideLayouts/slideLayout1.xml" Id="Rf54b620d110744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4b620d110744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3342888ce48b5" /><Relationship Type="http://schemas.openxmlformats.org/officeDocument/2006/relationships/notesSlide" Target="/ppt/notesSlides/notesSlide1.xml" Id="R487890d5728e40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c98174be94f40" /><Relationship Type="http://schemas.openxmlformats.org/officeDocument/2006/relationships/notesSlide" Target="/ppt/notesSlides/notesSlide2.xml" Id="Rdc80dd73f3c547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3eaae3c534368" /><Relationship Type="http://schemas.openxmlformats.org/officeDocument/2006/relationships/notesSlide" Target="/ppt/notesSlides/notesSlide3.xml" Id="R239d27753a5c40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2e511e07c4774" /><Relationship Type="http://schemas.openxmlformats.org/officeDocument/2006/relationships/notesSlide" Target="/ppt/notesSlides/notesSlide4.xml" Id="Rb0974b94631741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F66A994-BAAF-4DF3-B327-4F49ECB0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한결 해안도로 옹벽 준공 심의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07E23882-8227-4C09-A70C-E494A1DC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P15 | 2019-02-23 | SYNTHETIC 가상 자료 | 1</a:t>
            </a:r>
          </a:p>
        </p:txBody>
      </p:sp>
      <p:sp>
        <p:nvSpPr>
          <p:cNvPr id="3" name="scope">
            <a:extLst xmlns:a="http://schemas.openxmlformats.org/drawingml/2006/main">
              <a:ext uri="{FF2B5EF4-FFF2-40B4-BE49-F238E27FC236}">
                <a16:creationId xmlns:a16="http://schemas.microsoft.com/office/drawing/2014/main" id="{3FCC603D-364B-4A8F-B011-B40E0CDE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해안도로 7.6 km, 옹벽 2.1 km, 낙석방지 구간 1.3 km</a:t>
            </a:r>
          </a:p>
        </p:txBody>
      </p:sp>
      <p:sp>
        <p:nvSpPr>
          <p:cNvPr id="4" name="terms">
            <a:extLst xmlns:a="http://schemas.openxmlformats.org/drawingml/2006/main">
              <a:ext uri="{FF2B5EF4-FFF2-40B4-BE49-F238E27FC236}">
                <a16:creationId xmlns:a16="http://schemas.microsoft.com/office/drawing/2014/main" id="{25F05129-B004-4C10-818D-11A2B91D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총액도급  /  EUR 88 million</a:t>
            </a:r>
          </a:p>
          <a:p xmlns:a="http://schemas.openxmlformats.org/drawingml/2006/main">
            <a:pPr>
              <a:def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계획 21개월  /  당사 JV 지분 65%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14700DC7-5BCD-409E-9017-88581138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심의 결과: 변경 0.7 million 승인, 미승인 추가원가 1.00 million 종결</a:t>
            </a:r>
          </a:p>
        </p:txBody>
      </p:sp>
    </p:spTree>
    <p:extLst>
      <p:ext uri="{BB962C8B-B14F-4D97-AF65-F5344CB8AC3E}">
        <p14:creationId xmlns:p14="http://schemas.microsoft.com/office/powerpoint/2010/main" val="5458606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D848992-74B5-4D96-BD6A-03E5CF38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사면 조사 누락과 우기 접근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BBBE67BE-08DE-45BC-87E0-2153D24D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P15 | 2019-02-23 | SYNTHETIC 가상 자료 | 2</a:t>
            </a:r>
          </a:p>
        </p:txBody>
      </p:sp>
      <p:sp>
        <p:nvSpPr>
          <p:cNvPr id="3" name="event">
            <a:extLst xmlns:a="http://schemas.openxmlformats.org/drawingml/2006/main">
              <a:ext uri="{FF2B5EF4-FFF2-40B4-BE49-F238E27FC236}">
                <a16:creationId xmlns:a16="http://schemas.microsoft.com/office/drawing/2014/main" id="{5CB4206B-E6AA-4A60-9BAD-4E95925A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옹벽 배면의 연속 절리 확인이 늦어 앵커 정착구간을 재설계했다.</a:t>
            </a:r>
          </a:p>
        </p:txBody>
      </p:sp>
      <p:sp>
        <p:nvSpPr>
          <p:cNvPr id="4" name="response">
            <a:extLst xmlns:a="http://schemas.openxmlformats.org/drawingml/2006/main">
              <a:ext uri="{FF2B5EF4-FFF2-40B4-BE49-F238E27FC236}">
                <a16:creationId xmlns:a16="http://schemas.microsoft.com/office/drawing/2014/main" id="{05A0B516-C826-41C5-A59B-EBEEED4F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057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보완 시추와 인발시험을 실시하고 우기 장비 접근로를 별도로 확보했다.</a:t>
            </a:r>
          </a:p>
        </p:txBody>
      </p:sp>
      <p:sp>
        <p:nvSpPr>
          <p:cNvPr id="5" name="impact">
            <a:extLst xmlns:a="http://schemas.openxmlformats.org/drawingml/2006/main">
              <a:ext uri="{FF2B5EF4-FFF2-40B4-BE49-F238E27FC236}">
                <a16:creationId xmlns:a16="http://schemas.microsoft.com/office/drawing/2014/main" id="{1FAC49EE-039D-4542-9BEA-5438A0EF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실제 지연 18일 / 승인 EOT 12일 / 추가원가 1.7 EUR million</a:t>
            </a:r>
          </a:p>
        </p:txBody>
      </p:sp>
    </p:spTree>
    <p:extLst>
      <p:ext uri="{BB962C8B-B14F-4D97-AF65-F5344CB8AC3E}">
        <p14:creationId xmlns:p14="http://schemas.microsoft.com/office/powerpoint/2010/main" val="9394660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7C5BC35-04EC-4705-88A7-960C306E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원가와 계약 정산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3D906042-11EA-4917-ADA3-C9272267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P15 | 2019-02-23 | SYNTHETIC 가상 자료 | 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62000" y="1476375"/>
          <a:ext xmlns:a="http://schemas.openxmlformats.org/drawingml/2006/main" cx="104775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477000"/>
                <a:gridCol w="4000500"/>
              </a:tblGrid>
              <a:tr h="6429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18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EUR million</a:t>
                      </a:r>
                    </a:p>
                  </a:txBody>
                  <a:tcPr marL="91440" marR="91440" marT="45720" marB="45720">
                    <a:solidFill>
                      <a:srgbClr val="1833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원계약금액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 계약수입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88.7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최종원가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79.14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지체상금 공제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0.264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공제 후 잔여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9.2960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asis">
            <a:extLst xmlns:a="http://schemas.openxmlformats.org/drawingml/2006/main">
              <a:ext uri="{FF2B5EF4-FFF2-40B4-BE49-F238E27FC236}">
                <a16:creationId xmlns:a16="http://schemas.microsoft.com/office/drawing/2014/main" id="{0C5E4B0C-E48C-4F17-9403-6504E5EC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세금·금융비용 전. 원가와 수입을 구분하며 지분율을 곱하기 전의 JV 전체 금액입니다.</a:t>
            </a:r>
          </a:p>
        </p:txBody>
      </p:sp>
    </p:spTree>
    <p:extLst>
      <p:ext uri="{BB962C8B-B14F-4D97-AF65-F5344CB8AC3E}">
        <p14:creationId xmlns:p14="http://schemas.microsoft.com/office/powerpoint/2010/main" val="3220741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866B0F9-8CCB-455D-9114-E15F3EFA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후속 프로젝트에 재사용할 조건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4E843BFB-833C-4EDA-BB0C-F5AFB223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P15 | 2019-02-23 | SYNTHETIC 가상 자료 | 4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6318506A-7843-4236-90C4-720070FD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572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사면 조사와 검증시험의 선행조건에 참고한다. 연약층 굴착의 차수 대책으로 쓰지 않는다.</a:t>
            </a:r>
          </a:p>
        </p:txBody>
      </p:sp>
      <p:sp>
        <p:nvSpPr>
          <p:cNvPr id="4" name="second_lesson">
            <a:extLst xmlns:a="http://schemas.openxmlformats.org/drawingml/2006/main">
              <a:ext uri="{FF2B5EF4-FFF2-40B4-BE49-F238E27FC236}">
                <a16:creationId xmlns:a16="http://schemas.microsoft.com/office/drawing/2014/main" id="{28DDA62E-DC3B-41AD-A68D-728F39A6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임시 접근시설의 계절별 사용성을 공기와 비용에 반영한다.</a:t>
            </a:r>
          </a:p>
        </p:txBody>
      </p:sp>
      <p:sp>
        <p:nvSpPr>
          <p:cNvPr id="5" name="notice">
            <a:extLst xmlns:a="http://schemas.openxmlformats.org/drawingml/2006/main">
              <a:ext uri="{FF2B5EF4-FFF2-40B4-BE49-F238E27FC236}">
                <a16:creationId xmlns:a16="http://schemas.microsoft.com/office/drawing/2014/main" id="{3C7577D2-1688-4834-9429-02CC3676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통지기한 28일은 이 계약의 조건입니다. 신규 계약의 유효본을 다시 확인해야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4343743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2026-09-20T13:12:37.9730000Z</dcterms:created>
  <dcterms:modified xsi:type="dcterms:W3CDTF">2026-09-20T13:12:37.9730000Z</dcterms:modified>
</coreProperties>
</file>