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7445b1218d42d8" /><Relationship Type="http://schemas.openxmlformats.org/officeDocument/2006/relationships/extended-properties" Target="/docProps/app.xml" Id="Rceca707542a44ec1" /><Relationship Type="http://schemas.openxmlformats.org/officeDocument/2006/relationships/officeDocument" Target="/ppt/presentation.xml" Id="R4b4579035c4543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04e464525b470a"/>
  </p:sldMasterIdLst>
  <p:notesMasterIdLst>
    <p:notesMasterId xmlns:r="http://schemas.openxmlformats.org/officeDocument/2006/relationships" r:id="R1fd92bfb62524b5c"/>
  </p:notesMasterIdLst>
  <p:sldIdLst>
    <p:sldId xmlns:r="http://schemas.openxmlformats.org/officeDocument/2006/relationships" id="256" r:id="Re874b160ae5b4846"/>
    <p:sldId xmlns:r="http://schemas.openxmlformats.org/officeDocument/2006/relationships" id="257" r:id="R8507f762b74f4c66"/>
    <p:sldId xmlns:r="http://schemas.openxmlformats.org/officeDocument/2006/relationships" id="258" r:id="R9e90d6c4895b4208"/>
    <p:sldId xmlns:r="http://schemas.openxmlformats.org/officeDocument/2006/relationships" id="259" r:id="R64c617a8b3bf40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3b3fabe38249a8" /><Relationship Type="http://schemas.openxmlformats.org/officeDocument/2006/relationships/slideMaster" Target="/ppt/slideMasters/slideMaster1.xml" Id="Reb04e464525b470a" /><Relationship Type="http://schemas.openxmlformats.org/officeDocument/2006/relationships/notesMaster" Target="/ppt/notesMasters/notesMaster1.xml" Id="R1fd92bfb62524b5c" /><Relationship Type="http://schemas.openxmlformats.org/officeDocument/2006/relationships/presProps" Target="/ppt/presProps.xml" Id="R2f5e7ea67c404e61" /><Relationship Type="http://schemas.openxmlformats.org/officeDocument/2006/relationships/tableStyles" Target="/ppt/tableStyles.xml" Id="R5690207ed7734d70" /><Relationship Type="http://schemas.openxmlformats.org/officeDocument/2006/relationships/slide" Target="/ppt/slides/slide1.xml" Id="Re874b160ae5b4846" /><Relationship Type="http://schemas.openxmlformats.org/officeDocument/2006/relationships/slide" Target="/ppt/slides/slide2.xml" Id="R8507f762b74f4c66" /><Relationship Type="http://schemas.openxmlformats.org/officeDocument/2006/relationships/slide" Target="/ppt/slides/slide3.xml" Id="R9e90d6c4895b4208" /><Relationship Type="http://schemas.openxmlformats.org/officeDocument/2006/relationships/slide" Target="/ppt/slides/slide4.xml" Id="R64c617a8b3bf40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85524f30364b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0058916bb94954" /><Relationship Type="http://schemas.openxmlformats.org/officeDocument/2006/relationships/notesMaster" Target="/ppt/notesMasters/notesMaster1.xml" Id="Rccd1657940114e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c25a3d9d654c32" /><Relationship Type="http://schemas.openxmlformats.org/officeDocument/2006/relationships/notesMaster" Target="/ppt/notesMasters/notesMaster1.xml" Id="R957b197c271840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8c5b886681452a" /><Relationship Type="http://schemas.openxmlformats.org/officeDocument/2006/relationships/notesMaster" Target="/ppt/notesMasters/notesMaster1.xml" Id="Rb6c21e01b55943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acaa80bfc943a6" /><Relationship Type="http://schemas.openxmlformats.org/officeDocument/2006/relationships/notesMaster" Target="/ppt/notesMasters/notesMaster1.xml" Id="R6e0cdd4f19204f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P04-BRF-001 사업범위 표 및 정산 결과. 모든 값은 합성 자료이며 계약금액은 세금 제외 JV 전체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P04-LL01; P04-MOM-001 D01. 슬라이드 금액은 Cost 시트 실적에 포함되어 있으므로 재합산하지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P04-COM-001 Summary B6:B14. 공제 후 잔여 = 최종 계약수입 - 최종원가 - 지체상금.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P04-LL01, P04-LL02, P04-ITB-001 20.1. 적용성은 신규 프로젝트와 비교 후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95155c7e746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ce1708fbcf45f7" /><Relationship Type="http://schemas.openxmlformats.org/officeDocument/2006/relationships/slideLayout" Target="/ppt/slideLayouts/slideLayout1.xml" Id="R5970ca088f2445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70ca088f2445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374d592634b35" /><Relationship Type="http://schemas.openxmlformats.org/officeDocument/2006/relationships/notesSlide" Target="/ppt/notesSlides/notesSlide1.xml" Id="R71dad5d5c9c849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5c267e3f541b8" /><Relationship Type="http://schemas.openxmlformats.org/officeDocument/2006/relationships/notesSlide" Target="/ppt/notesSlides/notesSlide2.xml" Id="R30919bbf411947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c52fd234649d9" /><Relationship Type="http://schemas.openxmlformats.org/officeDocument/2006/relationships/notesSlide" Target="/ppt/notesSlides/notesSlide3.xml" Id="Re39bf12bb32b4f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0ddc9efe44cff" /><Relationship Type="http://schemas.openxmlformats.org/officeDocument/2006/relationships/notesSlide" Target="/ppt/notesSlides/notesSlide4.xml" Id="R23d85666c8224a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EF1B237-8A53-4DEB-BDE4-9A7503B2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가온 북항 컨테이너 부두 준공 심의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C946B0D4-D9CE-4852-8188-1C1045E0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P04 | 2022-01-02 | SYNTHETIC 가상 자료 | 1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B587345E-8A7A-4510-B99F-99AF1047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안벽 680 m, 준설 240만 m3, 야드 26 ha</a:t>
            </a:r>
          </a:p>
        </p:txBody>
      </p:sp>
      <p:sp>
        <p:nvSpPr>
          <p:cNvPr id="4" name="terms">
            <a:extLst xmlns:a="http://schemas.openxmlformats.org/drawingml/2006/main">
              <a:ext uri="{FF2B5EF4-FFF2-40B4-BE49-F238E27FC236}">
                <a16:creationId xmlns:a16="http://schemas.microsoft.com/office/drawing/2014/main" id="{8240BF50-1418-4C38-A458-6DFC1BD5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실측정산  /  USD 342 million</a:t>
            </a:r>
          </a:p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계획 42개월  /  당사 JV 지분 45%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3608EDE3-DB38-4AF2-91E5-7F604C3D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심의 결과: 변경 4.2 million 승인, 미승인 추가원가 3.40 million 종결</a:t>
            </a:r>
          </a:p>
        </p:txBody>
      </p:sp>
    </p:spTree>
    <p:extLst>
      <p:ext uri="{BB962C8B-B14F-4D97-AF65-F5344CB8AC3E}">
        <p14:creationId xmlns:p14="http://schemas.microsoft.com/office/powerpoint/2010/main" val="1776431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31C63BC-4007-4C0E-AB2D-D66C3F41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연약지반 압밀과 인도 시점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24EFC649-E833-428A-A55C-CD2BBE96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P04 | 2022-01-02 | SYNTHETIC 가상 자료 | 2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CC5588CC-CB62-4D5D-A812-85ED78C8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야드 B구역 침하가 관리기준에 도달하지 않아 포장 인도가 지연됐다.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08030DF6-5135-4210-819F-55EB4A49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관측자료로 구역별 압밀 종료를 판단하고 선행 운영구역과 후속 침하관리구역을 분리했다.</a:t>
            </a:r>
          </a:p>
        </p:txBody>
      </p:sp>
      <p:sp>
        <p:nvSpPr>
          <p:cNvPr id="5" name="impact">
            <a:extLst xmlns:a="http://schemas.openxmlformats.org/drawingml/2006/main">
              <a:ext uri="{FF2B5EF4-FFF2-40B4-BE49-F238E27FC236}">
                <a16:creationId xmlns:a16="http://schemas.microsoft.com/office/drawing/2014/main" id="{E9094E68-B7BF-421F-941F-73710DCC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실제 지연 37일 / 승인 EOT 32일 / 추가원가 7.6 USD million</a:t>
            </a:r>
          </a:p>
        </p:txBody>
      </p:sp>
    </p:spTree>
    <p:extLst>
      <p:ext uri="{BB962C8B-B14F-4D97-AF65-F5344CB8AC3E}">
        <p14:creationId xmlns:p14="http://schemas.microsoft.com/office/powerpoint/2010/main" val="1295908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E6D2ED4-4C2F-499F-A7B8-6A446265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원가와 계약 정산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F36BEB70-E17E-4107-8FBA-38F8A31D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P04 | 2022-01-02 | SYNTHETIC 가상 자료 |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USD million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원계약금액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계약수입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346.2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최종원가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308.56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지체상금 공제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0.855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공제 후 잔여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36.7850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asis">
            <a:extLst xmlns:a="http://schemas.openxmlformats.org/drawingml/2006/main">
              <a:ext uri="{FF2B5EF4-FFF2-40B4-BE49-F238E27FC236}">
                <a16:creationId xmlns:a16="http://schemas.microsoft.com/office/drawing/2014/main" id="{AAC0F456-43C2-4041-9EAB-E7EA5A6E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세금·금융비용 전. 원가와 수입을 구분하며 지분율을 곱하기 전의 JV 전체 금액입니다.</a:t>
            </a:r>
          </a:p>
        </p:txBody>
      </p:sp>
    </p:spTree>
    <p:extLst>
      <p:ext uri="{BB962C8B-B14F-4D97-AF65-F5344CB8AC3E}">
        <p14:creationId xmlns:p14="http://schemas.microsoft.com/office/powerpoint/2010/main" val="1172920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115A556-6C52-44A3-AC65-B8EBC3D7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후속 프로젝트에 재사용할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8B01C064-6F76-4BC2-98B8-39EB1B9C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P04 | 2022-01-02 | SYNTHETIC 가상 자료 | 4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3B108EB7-0559-4EAD-B15A-C81B9A31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해성점토 지반의 일정 여유 검토에 적용한다. 모래층의 즉시 배수 거동과 동일하게 취급하지 않는다.</a:t>
            </a:r>
          </a:p>
        </p:txBody>
      </p:sp>
      <p:sp>
        <p:nvSpPr>
          <p:cNvPr id="4" name="second_lesson">
            <a:extLst xmlns:a="http://schemas.openxmlformats.org/drawingml/2006/main">
              <a:ext uri="{FF2B5EF4-FFF2-40B4-BE49-F238E27FC236}">
                <a16:creationId xmlns:a16="http://schemas.microsoft.com/office/drawing/2014/main" id="{1F303D2F-04E9-4774-B40A-A5548541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준설토 성상 조사와 반출처 허가를 입찰 전 확인한다.</a:t>
            </a:r>
          </a:p>
        </p:txBody>
      </p:sp>
      <p:sp>
        <p:nvSpPr>
          <p:cNvPr id="5" name="notice">
            <a:extLst xmlns:a="http://schemas.openxmlformats.org/drawingml/2006/main">
              <a:ext uri="{FF2B5EF4-FFF2-40B4-BE49-F238E27FC236}">
                <a16:creationId xmlns:a16="http://schemas.microsoft.com/office/drawing/2014/main" id="{C3D3E734-8F3F-4EEE-AB1B-DB2A5CF3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통지기한 28일은 이 계약의 조건입니다. 신규 계약의 유효본을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577744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2026-09-20T13:12:06.2150000Z</dcterms:created>
  <dcterms:modified xsi:type="dcterms:W3CDTF">2026-09-20T13:12:06.2150000Z</dcterms:modified>
</coreProperties>
</file>