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a3334127e34986" /><Relationship Type="http://schemas.openxmlformats.org/officeDocument/2006/relationships/extended-properties" Target="/docProps/app.xml" Id="Rad647c3f887f4443" /><Relationship Type="http://schemas.openxmlformats.org/officeDocument/2006/relationships/officeDocument" Target="/ppt/presentation.xml" Id="R25aeffa8d79d44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f27abea268479b"/>
  </p:sldMasterIdLst>
  <p:notesMasterIdLst>
    <p:notesMasterId xmlns:r="http://schemas.openxmlformats.org/officeDocument/2006/relationships" r:id="R740f67adc9434d02"/>
  </p:notesMasterIdLst>
  <p:sldIdLst>
    <p:sldId xmlns:r="http://schemas.openxmlformats.org/officeDocument/2006/relationships" id="256" r:id="R05bed1b429514450"/>
    <p:sldId xmlns:r="http://schemas.openxmlformats.org/officeDocument/2006/relationships" id="257" r:id="Re78df89eb97d49e3"/>
    <p:sldId xmlns:r="http://schemas.openxmlformats.org/officeDocument/2006/relationships" id="258" r:id="R0a8929f344e641a7"/>
    <p:sldId xmlns:r="http://schemas.openxmlformats.org/officeDocument/2006/relationships" id="259" r:id="R4908f1183b4c48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5ac286dd99405c" /><Relationship Type="http://schemas.openxmlformats.org/officeDocument/2006/relationships/slideMaster" Target="/ppt/slideMasters/slideMaster1.xml" Id="R15f27abea268479b" /><Relationship Type="http://schemas.openxmlformats.org/officeDocument/2006/relationships/notesMaster" Target="/ppt/notesMasters/notesMaster1.xml" Id="R740f67adc9434d02" /><Relationship Type="http://schemas.openxmlformats.org/officeDocument/2006/relationships/presProps" Target="/ppt/presProps.xml" Id="R455447381d8a4064" /><Relationship Type="http://schemas.openxmlformats.org/officeDocument/2006/relationships/tableStyles" Target="/ppt/tableStyles.xml" Id="R97a7aadb550f4896" /><Relationship Type="http://schemas.openxmlformats.org/officeDocument/2006/relationships/slide" Target="/ppt/slides/slide1.xml" Id="R05bed1b429514450" /><Relationship Type="http://schemas.openxmlformats.org/officeDocument/2006/relationships/slide" Target="/ppt/slides/slide2.xml" Id="Re78df89eb97d49e3" /><Relationship Type="http://schemas.openxmlformats.org/officeDocument/2006/relationships/slide" Target="/ppt/slides/slide3.xml" Id="R0a8929f344e641a7" /><Relationship Type="http://schemas.openxmlformats.org/officeDocument/2006/relationships/slide" Target="/ppt/slides/slide4.xml" Id="R4908f1183b4c48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0b104cbc6940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abcdf47a5d4d64" /><Relationship Type="http://schemas.openxmlformats.org/officeDocument/2006/relationships/notesMaster" Target="/ppt/notesMasters/notesMaster1.xml" Id="R8dfddebfb36b49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d0e060ae5c411f" /><Relationship Type="http://schemas.openxmlformats.org/officeDocument/2006/relationships/notesMaster" Target="/ppt/notesMasters/notesMaster1.xml" Id="R53d0443398e14b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ba5b40c165462f" /><Relationship Type="http://schemas.openxmlformats.org/officeDocument/2006/relationships/notesMaster" Target="/ppt/notesMasters/notesMaster1.xml" Id="R7d8745aea16743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112186946e41b9" /><Relationship Type="http://schemas.openxmlformats.org/officeDocument/2006/relationships/notesMaster" Target="/ppt/notesMasters/notesMaster1.xml" Id="Rf3bf8165e22b4a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P02-BRF-001 사업범위 표 및 정산 결과. 모든 값은 합성 자료이며 계약금액은 세금 제외 JV 전체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P02-LL01; P02-MOM-001 D01. 슬라이드 금액은 Cost 시트 실적에 포함되어 있으므로 재합산하지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P02-COM-001 Summary B6:B14. 공제 후 잔여 = 최종 계약수입 - 최종원가 - 지체상금.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P02-LL01, P02-LL02, P02-ITB-001 20.1. 적용성은 신규 프로젝트와 비교 후 판단.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fa2804ed2947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3b844f6f764f2b" /><Relationship Type="http://schemas.openxmlformats.org/officeDocument/2006/relationships/slideLayout" Target="/ppt/slideLayouts/slideLayout1.xml" Id="R6609096ef0d04e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09096ef0d04e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1c378ba4a4a07" /><Relationship Type="http://schemas.openxmlformats.org/officeDocument/2006/relationships/notesSlide" Target="/ppt/notesSlides/notesSlide1.xml" Id="R7a51b689f2f948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7797606a7454a" /><Relationship Type="http://schemas.openxmlformats.org/officeDocument/2006/relationships/notesSlide" Target="/ppt/notesSlides/notesSlide2.xml" Id="R75b454d6b1964a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80347030d4f00" /><Relationship Type="http://schemas.openxmlformats.org/officeDocument/2006/relationships/notesSlide" Target="/ppt/notesSlides/notesSlide3.xml" Id="Rdd982e8714aa49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3c0ffbf134776" /><Relationship Type="http://schemas.openxmlformats.org/officeDocument/2006/relationships/notesSlide" Target="/ppt/notesSlides/notesSlide4.xml" Id="R50f958ece86146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18CC71A-5609-4BF6-BEA2-86644851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운령 산악도로 터널 준공 심의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D3544478-2306-4E24-A887-CC7F6C7D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P02 | 2018-12-20 | SYNTHETIC 가상 자료 | 1</a:t>
            </a:r>
          </a:p>
        </p:txBody>
      </p:sp>
      <p:sp>
        <p:nvSpPr>
          <p:cNvPr id="3" name="scope">
            <a:extLst xmlns:a="http://schemas.openxmlformats.org/drawingml/2006/main">
              <a:ext uri="{FF2B5EF4-FFF2-40B4-BE49-F238E27FC236}">
                <a16:creationId xmlns:a16="http://schemas.microsoft.com/office/drawing/2014/main" id="{4D8E92C1-E680-4476-8F91-B20F2D40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병렬 도로터널 4.2 km, 갱구 4개, 환기동 2개</a:t>
            </a:r>
          </a:p>
        </p:txBody>
      </p:sp>
      <p:sp>
        <p:nvSpPr>
          <p:cNvPr id="4" name="terms">
            <a:extLst xmlns:a="http://schemas.openxmlformats.org/drawingml/2006/main">
              <a:ext uri="{FF2B5EF4-FFF2-40B4-BE49-F238E27FC236}">
                <a16:creationId xmlns:a16="http://schemas.microsoft.com/office/drawing/2014/main" id="{1F78F765-8513-4288-B219-0A7BFC06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총액도급  /  USD 198 million</a:t>
            </a:r>
          </a:p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계획 32개월  /  당사 JV 지분 60%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1DADF69C-79A7-44CF-9F59-DDBB9795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심의 결과: 변경 1.4 million 승인, 미승인 추가원가 1.80 million 종결</a:t>
            </a:r>
          </a:p>
        </p:txBody>
      </p:sp>
    </p:spTree>
    <p:extLst>
      <p:ext uri="{BB962C8B-B14F-4D97-AF65-F5344CB8AC3E}">
        <p14:creationId xmlns:p14="http://schemas.microsoft.com/office/powerpoint/2010/main" val="18609130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94EA8C5-38B8-427E-A13E-3337466E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단층대 과굴착과 선진보강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D3723426-98E3-4E21-ACE4-5660CCC5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P02 | 2018-12-20 | SYNTHETIC 가상 자료 | 2</a:t>
            </a:r>
          </a:p>
        </p:txBody>
      </p:sp>
      <p:sp>
        <p:nvSpPr>
          <p:cNvPr id="3" name="event">
            <a:extLst xmlns:a="http://schemas.openxmlformats.org/drawingml/2006/main">
              <a:ext uri="{FF2B5EF4-FFF2-40B4-BE49-F238E27FC236}">
                <a16:creationId xmlns:a16="http://schemas.microsoft.com/office/drawing/2014/main" id="{E53A41AB-7817-4603-9E4A-2F94562C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T1 터널 체인리지 1+240에서 파쇄대가 예상보다 45 m 길게 나타나 지보 패턴을 변경했다.</a:t>
            </a:r>
          </a:p>
        </p:txBody>
      </p:sp>
      <p:sp>
        <p:nvSpPr>
          <p:cNvPr id="4" name="response">
            <a:extLst xmlns:a="http://schemas.openxmlformats.org/drawingml/2006/main">
              <a:ext uri="{FF2B5EF4-FFF2-40B4-BE49-F238E27FC236}">
                <a16:creationId xmlns:a16="http://schemas.microsoft.com/office/drawing/2014/main" id="{1E289CEB-F23F-4843-B6DF-FA5CB7D4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선진 시추를 굴진 전방 30 m까지 시행하고 강관 보강 후 굴진장을 축소했다.</a:t>
            </a:r>
          </a:p>
        </p:txBody>
      </p:sp>
      <p:sp>
        <p:nvSpPr>
          <p:cNvPr id="5" name="impact">
            <a:extLst xmlns:a="http://schemas.openxmlformats.org/drawingml/2006/main">
              <a:ext uri="{FF2B5EF4-FFF2-40B4-BE49-F238E27FC236}">
                <a16:creationId xmlns:a16="http://schemas.microsoft.com/office/drawing/2014/main" id="{001611BF-7FD0-4F7A-8D3A-E9CC3FCE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실제 지연 19일 / 승인 EOT 16일 / 추가원가 3.2 USD million</a:t>
            </a:r>
          </a:p>
        </p:txBody>
      </p:sp>
    </p:spTree>
    <p:extLst>
      <p:ext uri="{BB962C8B-B14F-4D97-AF65-F5344CB8AC3E}">
        <p14:creationId xmlns:p14="http://schemas.microsoft.com/office/powerpoint/2010/main" val="17309315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49B93C5-D957-4A1B-A0F8-55E9C600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원가와 계약 정산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78378B8C-CA9A-4843-B8C4-8089F83D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P02 | 2018-12-20 | SYNTHETIC 가상 자료 | 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62000" y="1476375"/>
          <a:ext xmlns:a="http://schemas.openxmlformats.org/drawingml/2006/main" cx="10477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77000"/>
                <a:gridCol w="4000500"/>
              </a:tblGrid>
              <a:tr h="642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USD million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원계약금액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 계약수입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199.4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최종원가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177.44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지체상금 공제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0.297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공제 후 잔여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21.6630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asis">
            <a:extLst xmlns:a="http://schemas.openxmlformats.org/drawingml/2006/main">
              <a:ext uri="{FF2B5EF4-FFF2-40B4-BE49-F238E27FC236}">
                <a16:creationId xmlns:a16="http://schemas.microsoft.com/office/drawing/2014/main" id="{491182C7-83D6-4080-88F2-573BB645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세금·금융비용 전. 원가와 수입을 구분하며 지분율을 곱하기 전의 JV 전체 금액입니다.</a:t>
            </a:r>
          </a:p>
        </p:txBody>
      </p:sp>
    </p:spTree>
    <p:extLst>
      <p:ext uri="{BB962C8B-B14F-4D97-AF65-F5344CB8AC3E}">
        <p14:creationId xmlns:p14="http://schemas.microsoft.com/office/powerpoint/2010/main" val="15715621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6ADAC8D-2356-4871-83B9-1393088F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후속 프로젝트에 재사용할 조건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8A071A43-213A-4829-BE4D-C2D64AAD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P02 | 2018-12-20 | SYNTHETIC 가상 자료 | 4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191A5C32-584E-4AA9-BB55-B8EF5AA6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암반 터널의 조사 계획에 참고할 수 있으나 연약 모래층 개착의 배수량이나 차수벽 설계값으로 전용하지 않는다.</a:t>
            </a:r>
          </a:p>
        </p:txBody>
      </p:sp>
      <p:sp>
        <p:nvSpPr>
          <p:cNvPr id="4" name="second_lesson">
            <a:extLst xmlns:a="http://schemas.openxmlformats.org/drawingml/2006/main">
              <a:ext uri="{FF2B5EF4-FFF2-40B4-BE49-F238E27FC236}">
                <a16:creationId xmlns:a16="http://schemas.microsoft.com/office/drawing/2014/main" id="{27522480-E33C-4437-8226-ED638CB4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주변 사면 안정과 굴진면 안정의 검토 범위를 분리한다.</a:t>
            </a:r>
          </a:p>
        </p:txBody>
      </p:sp>
      <p:sp>
        <p:nvSpPr>
          <p:cNvPr id="5" name="notice">
            <a:extLst xmlns:a="http://schemas.openxmlformats.org/drawingml/2006/main">
              <a:ext uri="{FF2B5EF4-FFF2-40B4-BE49-F238E27FC236}">
                <a16:creationId xmlns:a16="http://schemas.microsoft.com/office/drawing/2014/main" id="{F31D9EE6-CD83-4B29-A2B5-52E7BE5C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통지기한 14일은 이 계약의 조건입니다. 신규 계약의 유효본을 다시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3211058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2026-09-20T13:11:59.2330000Z</dcterms:created>
  <dcterms:modified xsi:type="dcterms:W3CDTF">2026-09-20T13:11:59.2330000Z</dcterms:modified>
</coreProperties>
</file>